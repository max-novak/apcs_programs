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1"/>
  </p:handoutMasterIdLst>
  <p:sldIdLst>
    <p:sldId id="294" r:id="rId2"/>
    <p:sldId id="298" r:id="rId3"/>
    <p:sldId id="280" r:id="rId4"/>
    <p:sldId id="281" r:id="rId5"/>
    <p:sldId id="282" r:id="rId6"/>
    <p:sldId id="29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7" r:id="rId15"/>
    <p:sldId id="290" r:id="rId16"/>
    <p:sldId id="295" r:id="rId17"/>
    <p:sldId id="291" r:id="rId18"/>
    <p:sldId id="296" r:id="rId19"/>
    <p:sldId id="272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 autoAdjust="0"/>
    <p:restoredTop sz="94746" autoAdjust="0"/>
  </p:normalViewPr>
  <p:slideViewPr>
    <p:cSldViewPr>
      <p:cViewPr varScale="1">
        <p:scale>
          <a:sx n="70" d="100"/>
          <a:sy n="70" d="100"/>
        </p:scale>
        <p:origin x="-52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D9A7A-96E6-492D-BA96-18374F585A74}" type="datetimeFigureOut">
              <a:rPr lang="en-US" smtClean="0"/>
              <a:pPr/>
              <a:t>8/31/2015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EB6B1-4EB0-42C4-BDE2-5ABD9977683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8991600" y="3175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55575" y="241935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618E9-D1A1-4FE8-9794-9151E464602A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989D1606-B336-4A41-92AF-3A905037BE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41DE5-DBA5-444B-9F76-81D8E710A4AA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2450" y="1027113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027A0-5CC1-4A0F-8124-B61A5EF7A2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152400" y="2286000"/>
            <a:ext cx="8832850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5575" y="142875"/>
            <a:ext cx="8832850" cy="21399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2438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455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362450" y="2209800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C878C-968B-43BD-93F5-A05DA5D32117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868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F3C63722-2FB7-414B-B00E-8595DD873F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 flipV="1">
            <a:off x="4562475" y="1576388"/>
            <a:ext cx="9525" cy="481806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10325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6B298-23E2-4BE5-AF33-882B9D37E3F9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5B9EEB-3D03-4CD7-9ECC-7C5AAA6EBF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 flipV="1">
            <a:off x="4572000" y="2200275"/>
            <a:ext cx="0" cy="4187825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2400" y="1371600"/>
            <a:ext cx="8832850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050" y="6391275"/>
            <a:ext cx="8832850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52400" y="1279525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41EC5C-C4C1-4E94-ABD3-F37AD8964125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10325"/>
            <a:ext cx="3581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988"/>
            <a:ext cx="457200" cy="441325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fld id="{2D1AF0B5-78DB-49DF-A319-93C2573D23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32FB-0B4B-44CB-9AC1-710512090ADF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6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52DC8-1767-4864-899B-C71A46B303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" y="15875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96EB6-06B7-4A89-8873-0228360421E5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5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4D005F1-4263-4483-A100-B44A0B3A41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" y="152400"/>
            <a:ext cx="8832850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19063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" y="152400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 smtClean="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AF6CBAA-F043-498B-9108-57F65C3F31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1DF2F-E6DD-4A9A-8F5D-0A532017B76D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38296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52400" y="533400"/>
            <a:ext cx="8832850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2850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390650" y="323850"/>
            <a:ext cx="4191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9B7FE-25EA-4503-B5F1-57EF165516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5788025" y="6405563"/>
            <a:ext cx="30448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8A663-23B1-4B9E-99C1-56E6B6B5A07D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301625" y="6410325"/>
            <a:ext cx="3584575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77B12-BA86-4DE8-854A-DE496B366341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74D8C-418A-4C6A-9881-9A3647BC3A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white">
          <a:xfrm>
            <a:off x="0" y="0"/>
            <a:ext cx="9144000" cy="1555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46050" y="6391275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4021137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838950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021013"/>
            <a:ext cx="420688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15150" y="3009900"/>
            <a:ext cx="4572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F6150-E6C9-41E4-A487-5A9EDF9195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5DD1D8-A685-455E-8A63-44FFA3268C13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82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225" y="6388100"/>
            <a:ext cx="8832850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5563"/>
            <a:ext cx="3044825" cy="3651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B7946F7C-26CA-4E04-AE0E-9EE8BF35EB32}" type="datetimeFigureOut">
              <a:rPr lang="en-US"/>
              <a:pPr>
                <a:defRPr/>
              </a:pPr>
              <a:t>8/31/2015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325"/>
            <a:ext cx="3581400" cy="366713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575"/>
            <a:ext cx="8832850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350"/>
            <a:ext cx="8832850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67200" y="955675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362450" y="1050925"/>
            <a:ext cx="4191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39813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 smtClean="0">
                <a:solidFill>
                  <a:schemeClr val="accent3">
                    <a:shade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245C4B5-29AB-4BEB-9E92-08E24A7EFD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8" name="Title Placeholder 21"/>
          <p:cNvSpPr>
            <a:spLocks noGrp="1"/>
          </p:cNvSpPr>
          <p:nvPr>
            <p:ph type="title"/>
          </p:nvPr>
        </p:nvSpPr>
        <p:spPr bwMode="auto">
          <a:xfrm>
            <a:off x="301625" y="228600"/>
            <a:ext cx="8534400" cy="75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1625" y="1524000"/>
            <a:ext cx="8534400" cy="4598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fontAlgn="base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fontAlgn="base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fontAlgn="base">
        <a:spcBef>
          <a:spcPct val="20000"/>
        </a:spcBef>
        <a:spcAft>
          <a:spcPct val="0"/>
        </a:spcAft>
        <a:buClr>
          <a:srgbClr val="8FB08C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5" Type="http://schemas.openxmlformats.org/officeDocument/2006/relationships/oleObject" Target="../embeddings/oleObject14.bin"/><Relationship Id="rId4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2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9.bin"/><Relationship Id="rId5" Type="http://schemas.openxmlformats.org/officeDocument/2006/relationships/oleObject" Target="../embeddings/oleObject28.bin"/><Relationship Id="rId4" Type="http://schemas.openxmlformats.org/officeDocument/2006/relationships/oleObject" Target="../embeddings/oleObject27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3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image" Target="../media/image38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4" Type="http://schemas.openxmlformats.org/officeDocument/2006/relationships/oleObject" Target="../embeddings/oleObject3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990600"/>
          </a:xfrm>
        </p:spPr>
        <p:txBody>
          <a:bodyPr/>
          <a:lstStyle/>
          <a:p>
            <a:r>
              <a:rPr lang="en-US" dirty="0" smtClean="0"/>
              <a:t>         Write each as a piecewise function: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381000" y="533400"/>
            <a:ext cx="762000" cy="6096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1.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43362" name="Object 2"/>
          <p:cNvGraphicFramePr>
            <a:graphicFrameLocks noChangeAspect="1"/>
          </p:cNvGraphicFramePr>
          <p:nvPr/>
        </p:nvGraphicFramePr>
        <p:xfrm>
          <a:off x="0" y="0"/>
          <a:ext cx="9144000" cy="6138863"/>
        </p:xfrm>
        <a:graphic>
          <a:graphicData uri="http://schemas.openxmlformats.org/presentationml/2006/ole">
            <p:oleObj spid="_x0000_s143362" name="Acrobat Document" r:id="rId3" imgW="5667146" imgH="8019898" progId="AcroExch.Document.7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04800" y="762000"/>
            <a:ext cx="8534400" cy="76200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b="1" i="1" dirty="0" smtClean="0"/>
              <a:t>Practice: </a:t>
            </a:r>
            <a:r>
              <a:rPr lang="en-US" sz="2700" b="1" i="1" dirty="0" smtClean="0"/>
              <a:t>Rationalize </a:t>
            </a:r>
            <a:r>
              <a:rPr lang="en-US" sz="2700" b="1" i="1" dirty="0" smtClean="0"/>
              <a:t>the denominator appropriately for each of the following:</a:t>
            </a:r>
            <a:endParaRPr lang="en-US" sz="2700" dirty="0"/>
          </a:p>
        </p:txBody>
      </p:sp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9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2958" name="Object 14"/>
          <p:cNvGraphicFramePr>
            <a:graphicFrameLocks noChangeAspect="1"/>
          </p:cNvGraphicFramePr>
          <p:nvPr/>
        </p:nvGraphicFramePr>
        <p:xfrm>
          <a:off x="0" y="457200"/>
          <a:ext cx="114300" cy="180975"/>
        </p:xfrm>
        <a:graphic>
          <a:graphicData uri="http://schemas.openxmlformats.org/presentationml/2006/ole">
            <p:oleObj spid="_x0000_s93186" name="Equation" r:id="rId3" imgW="114102" imgH="177492" progId="Equation.DSMT4">
              <p:embed/>
            </p:oleObj>
          </a:graphicData>
        </a:graphic>
      </p:graphicFrame>
      <p:graphicFrame>
        <p:nvGraphicFramePr>
          <p:cNvPr id="82957" name="Object 13"/>
          <p:cNvGraphicFramePr>
            <a:graphicFrameLocks noChangeAspect="1"/>
          </p:cNvGraphicFramePr>
          <p:nvPr/>
        </p:nvGraphicFramePr>
        <p:xfrm>
          <a:off x="1066800" y="1600200"/>
          <a:ext cx="993913" cy="854765"/>
        </p:xfrm>
        <a:graphic>
          <a:graphicData uri="http://schemas.openxmlformats.org/presentationml/2006/ole">
            <p:oleObj spid="_x0000_s93187" name="Equation" r:id="rId4" imgW="520474" imgH="444307" progId="Equation.DSMT4">
              <p:embed/>
            </p:oleObj>
          </a:graphicData>
        </a:graphic>
      </p:graphicFrame>
      <p:graphicFrame>
        <p:nvGraphicFramePr>
          <p:cNvPr id="82956" name="Object 12"/>
          <p:cNvGraphicFramePr>
            <a:graphicFrameLocks noChangeAspect="1"/>
          </p:cNvGraphicFramePr>
          <p:nvPr/>
        </p:nvGraphicFramePr>
        <p:xfrm>
          <a:off x="5257800" y="1647825"/>
          <a:ext cx="1212850" cy="796925"/>
        </p:xfrm>
        <a:graphic>
          <a:graphicData uri="http://schemas.openxmlformats.org/presentationml/2006/ole">
            <p:oleObj spid="_x0000_s93188" name="Equation" r:id="rId5" imgW="660240" imgH="419040" progId="Equation.DSMT4">
              <p:embed/>
            </p:oleObj>
          </a:graphicData>
        </a:graphic>
      </p:graphicFrame>
      <p:graphicFrame>
        <p:nvGraphicFramePr>
          <p:cNvPr id="82955" name="Object 11"/>
          <p:cNvGraphicFramePr>
            <a:graphicFrameLocks noChangeAspect="1"/>
          </p:cNvGraphicFramePr>
          <p:nvPr/>
        </p:nvGraphicFramePr>
        <p:xfrm>
          <a:off x="0" y="1476375"/>
          <a:ext cx="114300" cy="180975"/>
        </p:xfrm>
        <a:graphic>
          <a:graphicData uri="http://schemas.openxmlformats.org/presentationml/2006/ole">
            <p:oleObj spid="_x0000_s93189" name="Equation" r:id="rId6" imgW="114102" imgH="177492" progId="Equation.DSMT4">
              <p:embed/>
            </p:oleObj>
          </a:graphicData>
        </a:graphic>
      </p:graphicFrame>
      <p:graphicFrame>
        <p:nvGraphicFramePr>
          <p:cNvPr id="82952" name="Object 8"/>
          <p:cNvGraphicFramePr>
            <a:graphicFrameLocks noChangeAspect="1"/>
          </p:cNvGraphicFramePr>
          <p:nvPr/>
        </p:nvGraphicFramePr>
        <p:xfrm>
          <a:off x="3352800" y="5029200"/>
          <a:ext cx="993913" cy="914400"/>
        </p:xfrm>
        <a:graphic>
          <a:graphicData uri="http://schemas.openxmlformats.org/presentationml/2006/ole">
            <p:oleObj spid="_x0000_s93192" name="Equation" r:id="rId7" imgW="482391" imgH="431613" progId="Equation.DSMT4">
              <p:embed/>
            </p:oleObj>
          </a:graphicData>
        </a:graphic>
      </p:graphicFrame>
      <p:graphicFrame>
        <p:nvGraphicFramePr>
          <p:cNvPr id="82951" name="Object 7"/>
          <p:cNvGraphicFramePr>
            <a:graphicFrameLocks noChangeAspect="1"/>
          </p:cNvGraphicFramePr>
          <p:nvPr/>
        </p:nvGraphicFramePr>
        <p:xfrm>
          <a:off x="6972300" y="5029200"/>
          <a:ext cx="1709738" cy="912813"/>
        </p:xfrm>
        <a:graphic>
          <a:graphicData uri="http://schemas.openxmlformats.org/presentationml/2006/ole">
            <p:oleObj spid="_x0000_s93193" name="Equation" r:id="rId8" imgW="812520" imgH="431640" progId="Equation.DSMT4">
              <p:embed/>
            </p:oleObj>
          </a:graphicData>
        </a:graphic>
      </p:graphicFrame>
      <p:sp>
        <p:nvSpPr>
          <p:cNvPr id="82960" name="Rectangle 16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2963" name="Rectangle 19"/>
          <p:cNvSpPr>
            <a:spLocks noChangeArrowheads="1"/>
          </p:cNvSpPr>
          <p:nvPr/>
        </p:nvSpPr>
        <p:spPr bwMode="auto">
          <a:xfrm>
            <a:off x="0" y="16573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2969" name="Rectangle 25"/>
          <p:cNvSpPr>
            <a:spLocks noChangeArrowheads="1"/>
          </p:cNvSpPr>
          <p:nvPr/>
        </p:nvSpPr>
        <p:spPr bwMode="auto">
          <a:xfrm>
            <a:off x="0" y="4333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04800" y="1600200"/>
            <a:ext cx="762000" cy="6096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2.</a:t>
            </a:r>
            <a:endParaRPr lang="en-US" sz="3200" dirty="0"/>
          </a:p>
        </p:txBody>
      </p:sp>
      <p:sp>
        <p:nvSpPr>
          <p:cNvPr id="39" name="Rounded Rectangle 38"/>
          <p:cNvSpPr/>
          <p:nvPr/>
        </p:nvSpPr>
        <p:spPr>
          <a:xfrm>
            <a:off x="4572000" y="1676400"/>
            <a:ext cx="609600" cy="6858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3.</a:t>
            </a:r>
            <a:endParaRPr lang="en-US" sz="3200" dirty="0"/>
          </a:p>
        </p:txBody>
      </p:sp>
      <p:sp>
        <p:nvSpPr>
          <p:cNvPr id="42" name="TextBox 41"/>
          <p:cNvSpPr txBox="1"/>
          <p:nvPr/>
        </p:nvSpPr>
        <p:spPr>
          <a:xfrm>
            <a:off x="838200" y="1828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3" name="Rounded Rectangle 42"/>
          <p:cNvSpPr/>
          <p:nvPr/>
        </p:nvSpPr>
        <p:spPr>
          <a:xfrm>
            <a:off x="3124200" y="4953000"/>
            <a:ext cx="1371600" cy="10668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  <p:sp>
        <p:nvSpPr>
          <p:cNvPr id="44" name="Rounded Rectangle 43"/>
          <p:cNvSpPr/>
          <p:nvPr/>
        </p:nvSpPr>
        <p:spPr>
          <a:xfrm>
            <a:off x="6781800" y="4953000"/>
            <a:ext cx="1981200" cy="1143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534400" cy="758825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6000" dirty="0" smtClean="0"/>
              <a:t>Limits </a:t>
            </a:r>
            <a:r>
              <a:rPr lang="en-US" sz="2800" dirty="0" smtClean="0"/>
              <a:t>(Section 2.2)</a:t>
            </a:r>
          </a:p>
        </p:txBody>
      </p:sp>
      <p:sp>
        <p:nvSpPr>
          <p:cNvPr id="3" name="Subtitle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28600" y="1905000"/>
            <a:ext cx="8534400" cy="3810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shade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shade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sz="3300" b="1" cap="all" dirty="0" err="1" smtClean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ReCALL</a:t>
            </a:r>
            <a:r>
              <a:rPr lang="en-US" sz="3300" b="1" cap="all" dirty="0" smtClean="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rPr>
              <a:t>: 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shade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When we talk about limits, we are asking: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shade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What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accent3">
                    <a:shade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is happening to the y-values?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schemeClr val="accent3">
                    <a:shade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small" spc="0" normalizeH="0" noProof="0" dirty="0" smtClean="0">
                <a:ln>
                  <a:noFill/>
                </a:ln>
                <a:solidFill>
                  <a:schemeClr val="accent3">
                    <a:shade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“intended height of function”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4038600"/>
            <a:ext cx="8382000" cy="1524000"/>
          </a:xfrm>
        </p:spPr>
        <p:txBody>
          <a:bodyPr/>
          <a:lstStyle/>
          <a:p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Right-sided Limit must equal </a:t>
            </a:r>
            <a:b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 smtClean="0">
                <a:solidFill>
                  <a:schemeClr val="accent1">
                    <a:lumMod val="75000"/>
                  </a:schemeClr>
                </a:solidFill>
              </a:rPr>
              <a:t>Left-sided Limit for the Limit to exist. </a:t>
            </a:r>
            <a:r>
              <a:rPr lang="en-US" sz="3600" dirty="0" smtClean="0"/>
              <a:t> </a:t>
            </a:r>
            <a:endParaRPr lang="en-US" sz="3600" dirty="0"/>
          </a:p>
        </p:txBody>
      </p:sp>
      <p:graphicFrame>
        <p:nvGraphicFramePr>
          <p:cNvPr id="64514" name="Object 2"/>
          <p:cNvGraphicFramePr>
            <a:graphicFrameLocks noChangeAspect="1"/>
          </p:cNvGraphicFramePr>
          <p:nvPr/>
        </p:nvGraphicFramePr>
        <p:xfrm>
          <a:off x="1447800" y="2743200"/>
          <a:ext cx="3427412" cy="1143000"/>
        </p:xfrm>
        <a:graphic>
          <a:graphicData uri="http://schemas.openxmlformats.org/presentationml/2006/ole">
            <p:oleObj spid="_x0000_s108546" name="Equation" r:id="rId3" imgW="838080" imgH="279360" progId="Equation.DSMT4">
              <p:embed/>
            </p:oleObj>
          </a:graphicData>
        </a:graphic>
      </p:graphicFrame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4953000" y="2743200"/>
          <a:ext cx="2960687" cy="1143000"/>
        </p:xfrm>
        <a:graphic>
          <a:graphicData uri="http://schemas.openxmlformats.org/presentationml/2006/ole">
            <p:oleObj spid="_x0000_s108547" name="Equation" r:id="rId4" imgW="723600" imgH="279360" progId="Equation.DSMT4">
              <p:embed/>
            </p:oleObj>
          </a:graphicData>
        </a:graphic>
      </p:graphicFrame>
      <p:graphicFrame>
        <p:nvGraphicFramePr>
          <p:cNvPr id="65540" name="Object 4"/>
          <p:cNvGraphicFramePr>
            <a:graphicFrameLocks noChangeAspect="1"/>
          </p:cNvGraphicFramePr>
          <p:nvPr/>
        </p:nvGraphicFramePr>
        <p:xfrm>
          <a:off x="2438400" y="228600"/>
          <a:ext cx="3987800" cy="1235075"/>
        </p:xfrm>
        <a:graphic>
          <a:graphicData uri="http://schemas.openxmlformats.org/presentationml/2006/ole">
            <p:oleObj spid="_x0000_s108548" name="Equation" r:id="rId5" imgW="812520" imgH="279360" progId="Equation.DSMT4">
              <p:embed/>
            </p:oleObj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286000" y="228600"/>
            <a:ext cx="4267200" cy="12192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2667000"/>
            <a:ext cx="6629400" cy="1219200"/>
          </a:xfrm>
          <a:prstGeom prst="round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2895600" y="1447800"/>
          <a:ext cx="3178175" cy="673100"/>
        </p:xfrm>
        <a:graphic>
          <a:graphicData uri="http://schemas.openxmlformats.org/presentationml/2006/ole">
            <p:oleObj spid="_x0000_s108549" name="Equation" r:id="rId6" imgW="647640" imgH="1522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45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4 reasons a limit </a:t>
            </a:r>
            <a:r>
              <a:rPr lang="en-US" sz="4400" u="sng" dirty="0" smtClean="0"/>
              <a:t>Does Not Exist</a:t>
            </a:r>
            <a:r>
              <a:rPr lang="en-US" sz="4400" dirty="0" smtClean="0"/>
              <a:t>: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47800" y="2514600"/>
            <a:ext cx="7010400" cy="3581400"/>
          </a:xfrm>
        </p:spPr>
        <p:txBody>
          <a:bodyPr/>
          <a:lstStyle/>
          <a:p>
            <a:r>
              <a:rPr lang="en-US" dirty="0" smtClean="0"/>
              <a:t>1.</a:t>
            </a:r>
          </a:p>
          <a:p>
            <a:endParaRPr lang="en-US" dirty="0" smtClean="0"/>
          </a:p>
          <a:p>
            <a:r>
              <a:rPr lang="en-US" dirty="0" smtClean="0"/>
              <a:t>2.</a:t>
            </a:r>
          </a:p>
          <a:p>
            <a:endParaRPr lang="en-US" dirty="0" smtClean="0"/>
          </a:p>
          <a:p>
            <a:r>
              <a:rPr lang="en-US" dirty="0" smtClean="0"/>
              <a:t>3.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4.   f(x) is an oscillating function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i.e., </a:t>
            </a:r>
            <a:r>
              <a:rPr lang="en-US" sz="5400" dirty="0" smtClean="0"/>
              <a:t>  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8306" name="Object 2"/>
          <p:cNvGraphicFramePr>
            <a:graphicFrameLocks noChangeAspect="1"/>
          </p:cNvGraphicFramePr>
          <p:nvPr/>
        </p:nvGraphicFramePr>
        <p:xfrm>
          <a:off x="609600" y="1600200"/>
          <a:ext cx="4541838" cy="762000"/>
        </p:xfrm>
        <a:graphic>
          <a:graphicData uri="http://schemas.openxmlformats.org/presentationml/2006/ole">
            <p:oleObj spid="_x0000_s120834" name="Equation" r:id="rId3" imgW="1663560" imgH="279360" progId="Equation.DSMT4">
              <p:embed/>
            </p:oleObj>
          </a:graphicData>
        </a:graphic>
      </p:graphicFrame>
      <p:graphicFrame>
        <p:nvGraphicFramePr>
          <p:cNvPr id="98307" name="Object 3"/>
          <p:cNvGraphicFramePr>
            <a:graphicFrameLocks noChangeAspect="1"/>
          </p:cNvGraphicFramePr>
          <p:nvPr/>
        </p:nvGraphicFramePr>
        <p:xfrm>
          <a:off x="2286000" y="2514600"/>
          <a:ext cx="3567113" cy="762000"/>
        </p:xfrm>
        <a:graphic>
          <a:graphicData uri="http://schemas.openxmlformats.org/presentationml/2006/ole">
            <p:oleObj spid="_x0000_s120835" name="Equation" r:id="rId4" imgW="1307880" imgH="279360" progId="Equation.DSMT4">
              <p:embed/>
            </p:oleObj>
          </a:graphicData>
        </a:graphic>
      </p:graphicFrame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2362200" y="3505200"/>
          <a:ext cx="2654300" cy="768350"/>
        </p:xfrm>
        <a:graphic>
          <a:graphicData uri="http://schemas.openxmlformats.org/presentationml/2006/ole">
            <p:oleObj spid="_x0000_s120836" name="Equation" r:id="rId5" imgW="965160" imgH="279360" progId="Equation.DSMT4">
              <p:embed/>
            </p:oleObj>
          </a:graphicData>
        </a:graphic>
      </p:graphicFrame>
      <p:graphicFrame>
        <p:nvGraphicFramePr>
          <p:cNvPr id="98309" name="Object 5"/>
          <p:cNvGraphicFramePr>
            <a:graphicFrameLocks noChangeAspect="1"/>
          </p:cNvGraphicFramePr>
          <p:nvPr/>
        </p:nvGraphicFramePr>
        <p:xfrm>
          <a:off x="7391400" y="5392247"/>
          <a:ext cx="1600200" cy="703753"/>
        </p:xfrm>
        <a:graphic>
          <a:graphicData uri="http://schemas.openxmlformats.org/presentationml/2006/ole">
            <p:oleObj spid="_x0000_s120837" name="Equation" r:id="rId6" imgW="634680" imgH="279360" progId="Equation.DSMT4">
              <p:embed/>
            </p:oleObj>
          </a:graphicData>
        </a:graphic>
      </p:graphicFrame>
      <p:graphicFrame>
        <p:nvGraphicFramePr>
          <p:cNvPr id="120838" name="Object 6"/>
          <p:cNvGraphicFramePr>
            <a:graphicFrameLocks noChangeAspect="1"/>
          </p:cNvGraphicFramePr>
          <p:nvPr/>
        </p:nvGraphicFramePr>
        <p:xfrm>
          <a:off x="2362200" y="4495800"/>
          <a:ext cx="2584450" cy="768350"/>
        </p:xfrm>
        <a:graphic>
          <a:graphicData uri="http://schemas.openxmlformats.org/presentationml/2006/ole">
            <p:oleObj spid="_x0000_s120838" name="Equation" r:id="rId7" imgW="939600" imgH="27936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" descr="C:\anton\F02-02-01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r="48447"/>
          <a:stretch>
            <a:fillRect/>
          </a:stretch>
        </p:blipFill>
        <p:spPr>
          <a:xfrm>
            <a:off x="1447800" y="1600200"/>
            <a:ext cx="6248400" cy="3581400"/>
          </a:xfr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u="sng" dirty="0" smtClean="0"/>
              <a:t>Theorems</a:t>
            </a:r>
            <a:endParaRPr lang="en-US" sz="4800" u="sng" dirty="0"/>
          </a:p>
        </p:txBody>
      </p:sp>
      <p:sp>
        <p:nvSpPr>
          <p:cNvPr id="29" name="Rectangle 28"/>
          <p:cNvSpPr/>
          <p:nvPr/>
        </p:nvSpPr>
        <p:spPr>
          <a:xfrm>
            <a:off x="7696200" y="1600200"/>
            <a:ext cx="1295400" cy="3733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447800" y="4572000"/>
            <a:ext cx="6248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1828800" y="4800600"/>
            <a:ext cx="2514600" cy="12192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2057400" y="4953000"/>
          <a:ext cx="2057400" cy="983729"/>
        </p:xfrm>
        <a:graphic>
          <a:graphicData uri="http://schemas.openxmlformats.org/presentationml/2006/ole">
            <p:oleObj spid="_x0000_s109570" name="Equation" r:id="rId4" imgW="583920" imgH="279360" progId="Equation.DSMT4">
              <p:embed/>
            </p:oleObj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4876800" y="4800600"/>
            <a:ext cx="2514600" cy="12192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5105400" y="4953000"/>
          <a:ext cx="2057400" cy="984250"/>
        </p:xfrm>
        <a:graphic>
          <a:graphicData uri="http://schemas.openxmlformats.org/presentationml/2006/ole">
            <p:oleObj spid="_x0000_s109571" name="Equation" r:id="rId5" imgW="583920" imgH="279360" progId="Equation.DSMT4">
              <p:embed/>
            </p:oleObj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4572000" y="1676400"/>
            <a:ext cx="3124200" cy="289560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" descr="C:\anton\F02-02-01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52189"/>
          <a:stretch>
            <a:fillRect/>
          </a:stretch>
        </p:blipFill>
        <p:spPr>
          <a:xfrm>
            <a:off x="990600" y="1600200"/>
            <a:ext cx="6705600" cy="3581400"/>
          </a:xfr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u="sng" dirty="0" smtClean="0"/>
              <a:t>Theorems</a:t>
            </a:r>
            <a:endParaRPr lang="en-US" sz="4800" u="sng" dirty="0"/>
          </a:p>
        </p:txBody>
      </p:sp>
      <p:sp>
        <p:nvSpPr>
          <p:cNvPr id="29" name="Rectangle 28"/>
          <p:cNvSpPr/>
          <p:nvPr/>
        </p:nvSpPr>
        <p:spPr>
          <a:xfrm>
            <a:off x="152400" y="1524000"/>
            <a:ext cx="838200" cy="3733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447800" y="4419600"/>
            <a:ext cx="6248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1600200" y="4800600"/>
            <a:ext cx="2743200" cy="1295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1676400" y="4724400"/>
          <a:ext cx="2640012" cy="1387475"/>
        </p:xfrm>
        <a:graphic>
          <a:graphicData uri="http://schemas.openxmlformats.org/presentationml/2006/ole">
            <p:oleObj spid="_x0000_s110594" name="Equation" r:id="rId4" imgW="749160" imgH="393480" progId="Equation.DSMT4">
              <p:embed/>
            </p:oleObj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4800600" y="4800600"/>
            <a:ext cx="2590800" cy="1295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4800600" y="4724400"/>
          <a:ext cx="2640013" cy="1387475"/>
        </p:xfrm>
        <a:graphic>
          <a:graphicData uri="http://schemas.openxmlformats.org/presentationml/2006/ole">
            <p:oleObj spid="_x0000_s110595" name="Equation" r:id="rId5" imgW="749160" imgH="393480" progId="Equation.DSMT4">
              <p:embed/>
            </p:oleObj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495800" y="1676400"/>
            <a:ext cx="3124200" cy="289560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 rot="19949736">
            <a:off x="3416061" y="5137708"/>
            <a:ext cx="1317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n w="18000">
                  <a:solidFill>
                    <a:srgbClr val="0070C0"/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 Black" pitchFamily="34" charset="0"/>
              </a:rPr>
              <a:t>DNE</a:t>
            </a:r>
            <a:endParaRPr lang="en-US" sz="32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7030A0"/>
              </a:solidFill>
              <a:latin typeface="Arial Black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 rot="19949736">
            <a:off x="6308987" y="5147920"/>
            <a:ext cx="1317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n w="18000">
                  <a:solidFill>
                    <a:srgbClr val="0070C0"/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 Black" pitchFamily="34" charset="0"/>
              </a:rPr>
              <a:t>DNE</a:t>
            </a:r>
            <a:endParaRPr lang="en-US" sz="3200" b="1" dirty="0">
              <a:ln w="18000">
                <a:solidFill>
                  <a:srgbClr val="0070C0"/>
                </a:solidFill>
                <a:prstDash val="solid"/>
                <a:miter lim="800000"/>
              </a:ln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3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4" grpId="1"/>
      <p:bldP spid="16" grpId="0"/>
      <p:bldP spid="1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52400"/>
            <a:ext cx="7772400" cy="1905000"/>
          </a:xfrm>
        </p:spPr>
        <p:txBody>
          <a:bodyPr/>
          <a:lstStyle/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JUST LISTEN</a:t>
            </a:r>
            <a:r>
              <a:rPr lang="en-US" sz="2800" dirty="0" smtClean="0">
                <a:sym typeface="Wingdings"/>
              </a:rPr>
              <a:t>   N O   N O T E S</a:t>
            </a:r>
            <a:br>
              <a:rPr lang="en-US" sz="2800" dirty="0" smtClean="0">
                <a:sym typeface="Wingdings"/>
              </a:rPr>
            </a:br>
            <a:r>
              <a:rPr lang="en-US" sz="2800" dirty="0" smtClean="0"/>
              <a:t>Let </a:t>
            </a:r>
            <a:r>
              <a:rPr lang="en-US" sz="2800" i="1" dirty="0" smtClean="0"/>
              <a:t>a</a:t>
            </a:r>
            <a:r>
              <a:rPr lang="en-US" sz="2800" dirty="0" smtClean="0"/>
              <a:t> be a real #, and suppose that the limits of f(x) &amp; g(x) exist and are equal to L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and L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, respectively.  Then:</a:t>
            </a:r>
            <a:endParaRPr lang="en-US" sz="2800" dirty="0"/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381000" y="2667000"/>
          <a:ext cx="8305800" cy="830732"/>
        </p:xfrm>
        <a:graphic>
          <a:graphicData uri="http://schemas.openxmlformats.org/presentationml/2006/ole">
            <p:oleObj spid="_x0000_s111618" name="Equation" r:id="rId3" imgW="2920680" imgH="291960" progId="Equation.DSMT4">
              <p:embed/>
            </p:oleObj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381000" y="4191000"/>
          <a:ext cx="8229600" cy="823110"/>
        </p:xfrm>
        <a:graphic>
          <a:graphicData uri="http://schemas.openxmlformats.org/presentationml/2006/ole">
            <p:oleObj spid="_x0000_s111619" name="Equation" r:id="rId4" imgW="2920680" imgH="291960" progId="Equation.DSMT4">
              <p:embed/>
            </p:oleObj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838200" y="5486400"/>
          <a:ext cx="7467600" cy="817980"/>
        </p:xfrm>
        <a:graphic>
          <a:graphicData uri="http://schemas.openxmlformats.org/presentationml/2006/ole">
            <p:oleObj spid="_x0000_s111620" name="Equation" r:id="rId5" imgW="2666880" imgH="291960" progId="Equation.DSMT4">
              <p:embed/>
            </p:oleObj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524000" y="3505200"/>
            <a:ext cx="6364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</a:rPr>
              <a:t>“The limit of the </a:t>
            </a:r>
            <a:r>
              <a:rPr lang="en-US" sz="2400" b="1" dirty="0" smtClean="0">
                <a:solidFill>
                  <a:schemeClr val="accent1"/>
                </a:solidFill>
              </a:rPr>
              <a:t>sum</a:t>
            </a:r>
            <a:r>
              <a:rPr lang="en-US" sz="2400" dirty="0" smtClean="0">
                <a:solidFill>
                  <a:schemeClr val="accent1"/>
                </a:solidFill>
              </a:rPr>
              <a:t> is the </a:t>
            </a:r>
            <a:r>
              <a:rPr lang="en-US" sz="2400" b="1" dirty="0" smtClean="0">
                <a:solidFill>
                  <a:schemeClr val="accent1"/>
                </a:solidFill>
              </a:rPr>
              <a:t>sum</a:t>
            </a:r>
            <a:r>
              <a:rPr lang="en-US" sz="2400" dirty="0" smtClean="0">
                <a:solidFill>
                  <a:schemeClr val="accent1"/>
                </a:solidFill>
              </a:rPr>
              <a:t> of the limits”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4953000"/>
            <a:ext cx="7983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</a:rPr>
              <a:t>“The limit of the </a:t>
            </a:r>
            <a:r>
              <a:rPr lang="en-US" sz="2400" b="1" dirty="0" smtClean="0">
                <a:solidFill>
                  <a:schemeClr val="accent1"/>
                </a:solidFill>
              </a:rPr>
              <a:t>difference </a:t>
            </a:r>
            <a:r>
              <a:rPr lang="en-US" sz="2400" dirty="0" smtClean="0">
                <a:solidFill>
                  <a:schemeClr val="accent1"/>
                </a:solidFill>
              </a:rPr>
              <a:t>is the </a:t>
            </a:r>
            <a:r>
              <a:rPr lang="en-US" sz="2400" b="1" dirty="0" smtClean="0">
                <a:solidFill>
                  <a:schemeClr val="accent1"/>
                </a:solidFill>
              </a:rPr>
              <a:t>difference</a:t>
            </a:r>
            <a:r>
              <a:rPr lang="en-US" sz="2400" dirty="0" smtClean="0">
                <a:solidFill>
                  <a:schemeClr val="accent1"/>
                </a:solidFill>
              </a:rPr>
              <a:t> of the limits”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47800" y="6172200"/>
            <a:ext cx="7329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</a:rPr>
              <a:t>“The limit of the </a:t>
            </a:r>
            <a:r>
              <a:rPr lang="en-US" sz="2400" b="1" dirty="0" smtClean="0">
                <a:solidFill>
                  <a:schemeClr val="accent1"/>
                </a:solidFill>
              </a:rPr>
              <a:t>product</a:t>
            </a:r>
            <a:r>
              <a:rPr lang="en-US" sz="2400" dirty="0" smtClean="0">
                <a:solidFill>
                  <a:schemeClr val="accent1"/>
                </a:solidFill>
              </a:rPr>
              <a:t> is the </a:t>
            </a:r>
            <a:r>
              <a:rPr lang="en-US" sz="2400" b="1" dirty="0" smtClean="0">
                <a:solidFill>
                  <a:schemeClr val="accent1"/>
                </a:solidFill>
              </a:rPr>
              <a:t>product </a:t>
            </a:r>
            <a:r>
              <a:rPr lang="en-US" sz="2400" dirty="0" smtClean="0">
                <a:solidFill>
                  <a:schemeClr val="accent1"/>
                </a:solidFill>
              </a:rPr>
              <a:t>of the limits”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1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0"/>
            <a:ext cx="7772400" cy="1905000"/>
          </a:xfrm>
        </p:spPr>
        <p:txBody>
          <a:bodyPr/>
          <a:lstStyle/>
          <a:p>
            <a:r>
              <a:rPr lang="en-US" sz="3400" dirty="0" smtClean="0"/>
              <a:t>Let </a:t>
            </a:r>
            <a:r>
              <a:rPr lang="en-US" sz="3400" i="1" dirty="0" smtClean="0"/>
              <a:t>a</a:t>
            </a:r>
            <a:r>
              <a:rPr lang="en-US" sz="3400" dirty="0" smtClean="0"/>
              <a:t> be a real #, and suppose that the limits of f(x) &amp; g(x) exist and are equal to L</a:t>
            </a:r>
            <a:r>
              <a:rPr lang="en-US" sz="3400" baseline="-25000" dirty="0" smtClean="0"/>
              <a:t>1</a:t>
            </a:r>
            <a:r>
              <a:rPr lang="en-US" sz="3400" dirty="0" smtClean="0"/>
              <a:t> and L</a:t>
            </a:r>
            <a:r>
              <a:rPr lang="en-US" sz="3400" baseline="-25000" dirty="0" smtClean="0"/>
              <a:t>2</a:t>
            </a:r>
            <a:r>
              <a:rPr lang="en-US" sz="3400" dirty="0" smtClean="0"/>
              <a:t>, respectively.  Then:</a:t>
            </a:r>
            <a:endParaRPr lang="en-US" sz="3400" dirty="0"/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2590800" y="2514600"/>
          <a:ext cx="4191000" cy="1396536"/>
        </p:xfrm>
        <a:graphic>
          <a:graphicData uri="http://schemas.openxmlformats.org/presentationml/2006/ole">
            <p:oleObj spid="_x0000_s112642" name="Equation" r:id="rId3" imgW="1600200" imgH="533160" progId="Equation.DSMT4">
              <p:embed/>
            </p:oleObj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2590800" y="4419600"/>
          <a:ext cx="4572000" cy="783210"/>
        </p:xfrm>
        <a:graphic>
          <a:graphicData uri="http://schemas.openxmlformats.org/presentationml/2006/ole">
            <p:oleObj spid="_x0000_s112643" name="Equation" r:id="rId4" imgW="1854000" imgH="317160" progId="Equation.DSMT4">
              <p:embed/>
            </p:oleObj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6258580"/>
            <a:ext cx="9144000" cy="523220"/>
          </a:xfrm>
          <a:prstGeom prst="rect">
            <a:avLst/>
          </a:prstGeom>
          <a:solidFill>
            <a:schemeClr val="bg2">
              <a:lumMod val="50000"/>
            </a:schemeClr>
          </a:solidFill>
          <a:ln w="28575"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Pg. 123–124 in book for reference later…or copy later…</a:t>
            </a:r>
            <a:endParaRPr lang="en-US" sz="2800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609600" y="304800"/>
            <a:ext cx="77724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JUST LISTEN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Wingdings"/>
              </a:rPr>
              <a:t>   N O   N O T E S</a:t>
            </a:r>
            <a:b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Wingdings"/>
              </a:rPr>
            </a:b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Let </a:t>
            </a:r>
            <a:r>
              <a:rPr kumimoji="0" 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be a real #, and suppose that the limits of f(x) &amp; g(x) exist and are equal to L</a:t>
            </a:r>
            <a:r>
              <a:rPr kumimoji="0" lang="en-US" sz="28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and L</a:t>
            </a:r>
            <a:r>
              <a:rPr kumimoji="0" lang="en-US" sz="2800" b="0" i="0" u="none" strike="noStrike" kern="1200" cap="none" spc="0" normalizeH="0" baseline="-25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, respectively [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g(x) ≠ 0 ]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.  Then: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3881735"/>
            <a:ext cx="74639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</a:rPr>
              <a:t>“The limit of the </a:t>
            </a:r>
            <a:r>
              <a:rPr lang="en-US" sz="2400" b="1" dirty="0" smtClean="0">
                <a:solidFill>
                  <a:schemeClr val="accent1"/>
                </a:solidFill>
              </a:rPr>
              <a:t>quotient</a:t>
            </a:r>
            <a:r>
              <a:rPr lang="en-US" sz="2400" dirty="0" smtClean="0">
                <a:solidFill>
                  <a:schemeClr val="accent1"/>
                </a:solidFill>
              </a:rPr>
              <a:t> is the </a:t>
            </a:r>
            <a:r>
              <a:rPr lang="en-US" sz="2400" b="1" dirty="0" smtClean="0">
                <a:solidFill>
                  <a:schemeClr val="accent1"/>
                </a:solidFill>
              </a:rPr>
              <a:t>quotient</a:t>
            </a:r>
            <a:r>
              <a:rPr lang="en-US" sz="2400" dirty="0" smtClean="0">
                <a:solidFill>
                  <a:schemeClr val="accent1"/>
                </a:solidFill>
              </a:rPr>
              <a:t> of the limits”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253335"/>
            <a:ext cx="7015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</a:rPr>
              <a:t>“The limit of the </a:t>
            </a:r>
            <a:r>
              <a:rPr lang="en-US" sz="2400" b="1" dirty="0" smtClean="0">
                <a:solidFill>
                  <a:schemeClr val="accent1"/>
                </a:solidFill>
              </a:rPr>
              <a:t>n</a:t>
            </a:r>
            <a:r>
              <a:rPr lang="en-US" sz="2400" b="1" baseline="30000" dirty="0" smtClean="0">
                <a:solidFill>
                  <a:schemeClr val="accent1"/>
                </a:solidFill>
              </a:rPr>
              <a:t>th</a:t>
            </a:r>
            <a:r>
              <a:rPr lang="en-US" sz="2400" b="1" dirty="0" smtClean="0">
                <a:solidFill>
                  <a:schemeClr val="accent1"/>
                </a:solidFill>
              </a:rPr>
              <a:t> root </a:t>
            </a:r>
            <a:r>
              <a:rPr lang="en-US" sz="2400" dirty="0" smtClean="0">
                <a:solidFill>
                  <a:schemeClr val="accent1"/>
                </a:solidFill>
              </a:rPr>
              <a:t>is the </a:t>
            </a:r>
            <a:r>
              <a:rPr lang="en-US" sz="2400" b="1" dirty="0" smtClean="0">
                <a:solidFill>
                  <a:schemeClr val="accent1"/>
                </a:solidFill>
              </a:rPr>
              <a:t>n</a:t>
            </a:r>
            <a:r>
              <a:rPr lang="en-US" sz="2400" b="1" baseline="30000" dirty="0" smtClean="0">
                <a:solidFill>
                  <a:schemeClr val="accent1"/>
                </a:solidFill>
              </a:rPr>
              <a:t>th</a:t>
            </a:r>
            <a:r>
              <a:rPr lang="en-US" sz="2400" b="1" dirty="0" smtClean="0">
                <a:solidFill>
                  <a:schemeClr val="accent1"/>
                </a:solidFill>
              </a:rPr>
              <a:t> root</a:t>
            </a:r>
            <a:r>
              <a:rPr lang="en-US" sz="2400" dirty="0" smtClean="0">
                <a:solidFill>
                  <a:schemeClr val="accent1"/>
                </a:solidFill>
              </a:rPr>
              <a:t> of the limit”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2020887" cy="1143000"/>
          </a:xfrm>
        </p:spPr>
        <p:txBody>
          <a:bodyPr/>
          <a:lstStyle/>
          <a:p>
            <a:r>
              <a:rPr lang="en-US" sz="3400" dirty="0" smtClean="0"/>
              <a:t>Find </a:t>
            </a:r>
            <a:endParaRPr lang="en-US" sz="3400" dirty="0"/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2362200" y="914400"/>
          <a:ext cx="3030538" cy="909638"/>
        </p:xfrm>
        <a:graphic>
          <a:graphicData uri="http://schemas.openxmlformats.org/presentationml/2006/ole">
            <p:oleObj spid="_x0000_s113666" name="Equation" r:id="rId3" imgW="1015920" imgH="304560" progId="Equation.DSMT4">
              <p:embed/>
            </p:oleObj>
          </a:graphicData>
        </a:graphic>
      </p:graphicFrame>
      <p:graphicFrame>
        <p:nvGraphicFramePr>
          <p:cNvPr id="84997" name="Object 5"/>
          <p:cNvGraphicFramePr>
            <a:graphicFrameLocks noChangeAspect="1"/>
          </p:cNvGraphicFramePr>
          <p:nvPr/>
        </p:nvGraphicFramePr>
        <p:xfrm>
          <a:off x="2911475" y="4608513"/>
          <a:ext cx="2387600" cy="530225"/>
        </p:xfrm>
        <a:graphic>
          <a:graphicData uri="http://schemas.openxmlformats.org/presentationml/2006/ole">
            <p:oleObj spid="_x0000_s113667" name="Equation" r:id="rId4" imgW="799920" imgH="177480" progId="Equation.DSMT4">
              <p:embed/>
            </p:oleObj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1909763" y="3524250"/>
          <a:ext cx="4394200" cy="871538"/>
        </p:xfrm>
        <a:graphic>
          <a:graphicData uri="http://schemas.openxmlformats.org/presentationml/2006/ole">
            <p:oleObj spid="_x0000_s113668" name="Equation" r:id="rId5" imgW="1473120" imgH="291960" progId="Equation.DSMT4">
              <p:embed/>
            </p:oleObj>
          </a:graphicData>
        </a:graphic>
      </p:graphicFrame>
      <p:graphicFrame>
        <p:nvGraphicFramePr>
          <p:cNvPr id="84999" name="Object 7"/>
          <p:cNvGraphicFramePr>
            <a:graphicFrameLocks noChangeAspect="1"/>
          </p:cNvGraphicFramePr>
          <p:nvPr/>
        </p:nvGraphicFramePr>
        <p:xfrm>
          <a:off x="1335088" y="2743200"/>
          <a:ext cx="3409950" cy="909638"/>
        </p:xfrm>
        <a:graphic>
          <a:graphicData uri="http://schemas.openxmlformats.org/presentationml/2006/ole">
            <p:oleObj spid="_x0000_s113669" name="Equation" r:id="rId6" imgW="1143000" imgH="304560" progId="Equation.DSMT4">
              <p:embed/>
            </p:oleObj>
          </a:graphicData>
        </a:graphic>
      </p:graphicFrame>
      <p:graphicFrame>
        <p:nvGraphicFramePr>
          <p:cNvPr id="85000" name="Object 8"/>
          <p:cNvGraphicFramePr>
            <a:graphicFrameLocks noChangeAspect="1"/>
          </p:cNvGraphicFramePr>
          <p:nvPr/>
        </p:nvGraphicFramePr>
        <p:xfrm>
          <a:off x="4452938" y="5257800"/>
          <a:ext cx="339725" cy="530225"/>
        </p:xfrm>
        <a:graphic>
          <a:graphicData uri="http://schemas.openxmlformats.org/presentationml/2006/ole">
            <p:oleObj spid="_x0000_s113670" name="Equation" r:id="rId7" imgW="114120" imgH="177480" progId="Equation.DSMT4">
              <p:embed/>
            </p:oleObj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8600" y="5943600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DID YOU NOTICE - - - - - - - - -&gt;  </a:t>
            </a:r>
          </a:p>
          <a:p>
            <a:pPr algn="ctr"/>
            <a:r>
              <a:rPr lang="en-US" sz="2400" dirty="0" smtClean="0"/>
              <a:t>We can simply find the polynomial value at x=5…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8499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8499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z="3400" dirty="0" smtClean="0"/>
              <a:t>The limit of a polynomial as </a:t>
            </a:r>
            <a:r>
              <a:rPr lang="en-US" sz="3400" i="1" dirty="0" smtClean="0"/>
              <a:t>x</a:t>
            </a:r>
            <a:r>
              <a:rPr lang="en-US" sz="3400" dirty="0" smtClean="0"/>
              <a:t> approaches </a:t>
            </a:r>
            <a:r>
              <a:rPr lang="en-US" sz="3400" i="1" dirty="0" smtClean="0"/>
              <a:t>a </a:t>
            </a:r>
            <a:r>
              <a:rPr lang="en-US" sz="3400" dirty="0" smtClean="0"/>
              <a:t>is the same as the value of </a:t>
            </a:r>
            <a:br>
              <a:rPr lang="en-US" sz="3400" dirty="0" smtClean="0"/>
            </a:br>
            <a:r>
              <a:rPr lang="en-US" sz="3400" dirty="0" smtClean="0"/>
              <a:t>the polynomial at </a:t>
            </a:r>
            <a:r>
              <a:rPr lang="en-US" sz="3400" i="1" dirty="0" smtClean="0"/>
              <a:t>x</a:t>
            </a:r>
            <a:r>
              <a:rPr lang="en-US" sz="3400" dirty="0" smtClean="0"/>
              <a:t>=</a:t>
            </a:r>
            <a:r>
              <a:rPr lang="en-US" sz="3400" b="1" dirty="0" smtClean="0"/>
              <a:t>a</a:t>
            </a:r>
            <a:r>
              <a:rPr lang="en-US" sz="3400" dirty="0" smtClean="0"/>
              <a:t>.</a:t>
            </a:r>
            <a:endParaRPr lang="en-US" sz="3400" dirty="0"/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1179513" y="2420938"/>
          <a:ext cx="2500312" cy="1250950"/>
        </p:xfrm>
        <a:graphic>
          <a:graphicData uri="http://schemas.openxmlformats.org/presentationml/2006/ole">
            <p:oleObj spid="_x0000_s114690" name="Equation" r:id="rId3" imgW="838080" imgH="419040" progId="Equation.DSMT4">
              <p:embed/>
            </p:oleObj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2801938" y="3657600"/>
          <a:ext cx="2273300" cy="1250950"/>
        </p:xfrm>
        <a:graphic>
          <a:graphicData uri="http://schemas.openxmlformats.org/presentationml/2006/ole">
            <p:oleObj spid="_x0000_s114691" name="Equation" r:id="rId4" imgW="761760" imgH="419040" progId="Equation.DSMT4">
              <p:embed/>
            </p:oleObj>
          </a:graphicData>
        </a:graphic>
      </p:graphicFrame>
      <p:sp>
        <p:nvSpPr>
          <p:cNvPr id="5" name="Rectangle 4"/>
          <p:cNvSpPr/>
          <p:nvPr/>
        </p:nvSpPr>
        <p:spPr>
          <a:xfrm rot="20079584">
            <a:off x="2817130" y="3866866"/>
            <a:ext cx="4487062" cy="135421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Error Alert~</a:t>
            </a:r>
          </a:p>
          <a:p>
            <a:pPr algn="ctr"/>
            <a:r>
              <a:rPr lang="en-US" sz="28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go to next slide…</a:t>
            </a:r>
            <a:endParaRPr lang="en-US" sz="28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z="4000" dirty="0" smtClean="0"/>
              <a:t>Indeterminate Forms:  0/0 </a:t>
            </a:r>
            <a:endParaRPr lang="en-US" sz="4000" dirty="0"/>
          </a:p>
        </p:txBody>
      </p:sp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457200" y="2743200"/>
          <a:ext cx="1916945" cy="1054855"/>
        </p:xfrm>
        <a:graphic>
          <a:graphicData uri="http://schemas.openxmlformats.org/presentationml/2006/ole">
            <p:oleObj spid="_x0000_s115714" name="Equation" r:id="rId3" imgW="761760" imgH="419040" progId="Equation.DSMT4">
              <p:embed/>
            </p:oleObj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 bwMode="auto">
          <a:xfrm>
            <a:off x="3352800" y="2057400"/>
            <a:ext cx="5715000" cy="1371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When both the numerator &amp; denominator “equal/go to” zero, we can try some algebra: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7044" name="Object 4"/>
          <p:cNvGraphicFramePr>
            <a:graphicFrameLocks noChangeAspect="1"/>
          </p:cNvGraphicFramePr>
          <p:nvPr/>
        </p:nvGraphicFramePr>
        <p:xfrm>
          <a:off x="533400" y="4953000"/>
          <a:ext cx="1981200" cy="702791"/>
        </p:xfrm>
        <a:graphic>
          <a:graphicData uri="http://schemas.openxmlformats.org/presentationml/2006/ole">
            <p:oleObj spid="_x0000_s115715" name="Equation" r:id="rId4" imgW="787320" imgH="279360" progId="Equation.DSMT4">
              <p:embed/>
            </p:oleObj>
          </a:graphicData>
        </a:graphic>
      </p:graphicFrame>
      <p:graphicFrame>
        <p:nvGraphicFramePr>
          <p:cNvPr id="87045" name="Object 5"/>
          <p:cNvGraphicFramePr>
            <a:graphicFrameLocks noChangeAspect="1"/>
          </p:cNvGraphicFramePr>
          <p:nvPr/>
        </p:nvGraphicFramePr>
        <p:xfrm>
          <a:off x="381000" y="3886200"/>
          <a:ext cx="3034716" cy="990600"/>
        </p:xfrm>
        <a:graphic>
          <a:graphicData uri="http://schemas.openxmlformats.org/presentationml/2006/ole">
            <p:oleObj spid="_x0000_s115716" name="Equation" r:id="rId5" imgW="1206360" imgH="393480" progId="Equation.DSMT4">
              <p:embed/>
            </p:oleObj>
          </a:graphicData>
        </a:graphic>
      </p:graphicFrame>
      <p:sp>
        <p:nvSpPr>
          <p:cNvPr id="8" name="Oval 7"/>
          <p:cNvSpPr/>
          <p:nvPr/>
        </p:nvSpPr>
        <p:spPr>
          <a:xfrm>
            <a:off x="2133600" y="4953000"/>
            <a:ext cx="457200" cy="609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810000" y="3505200"/>
            <a:ext cx="2506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Graphical View:  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115717" name="Object 5"/>
          <p:cNvGraphicFramePr>
            <a:graphicFrameLocks noChangeAspect="1"/>
          </p:cNvGraphicFramePr>
          <p:nvPr/>
        </p:nvGraphicFramePr>
        <p:xfrm>
          <a:off x="4038600" y="4724400"/>
          <a:ext cx="1886237" cy="901700"/>
        </p:xfrm>
        <a:graphic>
          <a:graphicData uri="http://schemas.openxmlformats.org/presentationml/2006/ole">
            <p:oleObj spid="_x0000_s115717" name="Equation" r:id="rId6" imgW="876240" imgH="419040" progId="Equation.DSMT4">
              <p:embed/>
            </p:oleObj>
          </a:graphicData>
        </a:graphic>
      </p:graphicFrame>
      <p:grpSp>
        <p:nvGrpSpPr>
          <p:cNvPr id="18" name="Group 17"/>
          <p:cNvGrpSpPr/>
          <p:nvPr/>
        </p:nvGrpSpPr>
        <p:grpSpPr>
          <a:xfrm>
            <a:off x="6096000" y="4038600"/>
            <a:ext cx="2819400" cy="2557380"/>
            <a:chOff x="5715000" y="3886200"/>
            <a:chExt cx="2819400" cy="2557380"/>
          </a:xfrm>
        </p:grpSpPr>
        <p:pic>
          <p:nvPicPr>
            <p:cNvPr id="10" name="Picture 9" descr="Coordinate%20Plane"/>
            <p:cNvPicPr/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715000" y="3886200"/>
              <a:ext cx="2819400" cy="25573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7" name="Group 16"/>
            <p:cNvGrpSpPr/>
            <p:nvPr/>
          </p:nvGrpSpPr>
          <p:grpSpPr>
            <a:xfrm>
              <a:off x="6400800" y="4144296"/>
              <a:ext cx="1600200" cy="1447800"/>
              <a:chOff x="6400800" y="4144296"/>
              <a:chExt cx="1600200" cy="14478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 flipV="1">
                <a:off x="6400800" y="4144296"/>
                <a:ext cx="1600200" cy="1447800"/>
              </a:xfrm>
              <a:prstGeom prst="line">
                <a:avLst/>
              </a:prstGeom>
              <a:ln w="28575">
                <a:solidFill>
                  <a:schemeClr val="accent1">
                    <a:lumMod val="50000"/>
                  </a:schemeClr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Oval 15"/>
              <p:cNvSpPr/>
              <p:nvPr/>
            </p:nvSpPr>
            <p:spPr>
              <a:xfrm>
                <a:off x="7384512" y="4628532"/>
                <a:ext cx="91440" cy="9144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8" grpId="1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42338" name="Object 2"/>
          <p:cNvGraphicFramePr>
            <a:graphicFrameLocks noChangeAspect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presentationml/2006/ole">
            <p:oleObj spid="_x0000_s142338" name="Acrobat Document" r:id="rId3" imgW="5667146" imgH="8019898" progId="AcroExch.Document.7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z="4000" dirty="0" smtClean="0"/>
              <a:t>Indeterminate Forms:  0/0 </a:t>
            </a:r>
            <a:endParaRPr lang="en-US" sz="4000" dirty="0"/>
          </a:p>
        </p:txBody>
      </p:sp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381000" y="2743200"/>
          <a:ext cx="2819400" cy="1121498"/>
        </p:xfrm>
        <a:graphic>
          <a:graphicData uri="http://schemas.openxmlformats.org/presentationml/2006/ole">
            <p:oleObj spid="_x0000_s116738" name="Equation" r:id="rId3" imgW="1054080" imgH="419040" progId="Equation.DSMT4">
              <p:embed/>
            </p:oleObj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6705600" y="2667000"/>
            <a:ext cx="2209800" cy="1676400"/>
            <a:chOff x="5638800" y="2895600"/>
            <a:chExt cx="3124200" cy="3124200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7162800" y="2895600"/>
              <a:ext cx="0" cy="312420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5638800" y="4343400"/>
              <a:ext cx="3124200" cy="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z="4000" dirty="0" smtClean="0"/>
              <a:t>Indeterminate Forms:  0/0 </a:t>
            </a:r>
            <a:endParaRPr lang="en-US" sz="4000" dirty="0"/>
          </a:p>
        </p:txBody>
      </p:sp>
      <p:grpSp>
        <p:nvGrpSpPr>
          <p:cNvPr id="4" name="Group 15"/>
          <p:cNvGrpSpPr/>
          <p:nvPr/>
        </p:nvGrpSpPr>
        <p:grpSpPr>
          <a:xfrm>
            <a:off x="6705600" y="2667000"/>
            <a:ext cx="2209800" cy="1676400"/>
            <a:chOff x="5638800" y="2895600"/>
            <a:chExt cx="3124200" cy="3124200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7162800" y="2895600"/>
              <a:ext cx="0" cy="312420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5638800" y="4343400"/>
              <a:ext cx="3124200" cy="0"/>
            </a:xfrm>
            <a:prstGeom prst="straightConnector1">
              <a:avLst/>
            </a:prstGeom>
            <a:ln w="28575"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z="4000" dirty="0" smtClean="0"/>
              <a:t>Indeterminate Limits Involving Radicals</a:t>
            </a:r>
            <a:endParaRPr lang="en-US" sz="4000" dirty="0"/>
          </a:p>
        </p:txBody>
      </p:sp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609600" y="3429000"/>
          <a:ext cx="2917825" cy="1250950"/>
        </p:xfrm>
        <a:graphic>
          <a:graphicData uri="http://schemas.openxmlformats.org/presentationml/2006/ole">
            <p:oleObj spid="_x0000_s117762" name="Equation" r:id="rId3" imgW="977760" imgH="419040" progId="Equation.DSMT4">
              <p:embed/>
            </p:oleObj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990600" y="2971800"/>
            <a:ext cx="7620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It’s an indeterminate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form of type 0/0, so we can’t use formulas…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3200" dirty="0" smtClean="0">
              <a:solidFill>
                <a:schemeClr val="tx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3200" dirty="0" smtClean="0">
              <a:solidFill>
                <a:schemeClr val="tx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Try rationalizing the denominator!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3200" baseline="0" dirty="0" smtClean="0">
              <a:solidFill>
                <a:schemeClr val="tx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noProof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499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 sz="4000" dirty="0" smtClean="0"/>
              <a:t>Another Indeterminate Limit Involving Radicals</a:t>
            </a:r>
            <a:endParaRPr lang="en-US" sz="40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8600" y="2438400"/>
          <a:ext cx="1971675" cy="1066800"/>
        </p:xfrm>
        <a:graphic>
          <a:graphicData uri="http://schemas.openxmlformats.org/presentationml/2006/ole">
            <p:oleObj spid="_x0000_s125958" name="Equation" r:id="rId3" imgW="774360" imgH="41904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81000" y="2590800"/>
            <a:ext cx="8534400" cy="327660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 sz="2800" dirty="0" smtClean="0"/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800" dirty="0" smtClean="0"/>
              <a:t>READ EXAMPLES 3-5 on P. 126-8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smtClean="0"/>
              <a:t>&amp; p. 129-130: 1, 5, 7, 9, 11, 13, 15-21, 29, 30, 34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 sz="2800" dirty="0" smtClean="0"/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400" dirty="0" smtClean="0"/>
              <a:t>Include a reason if a limit DNE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 sz="2400" dirty="0" smtClean="0"/>
          </a:p>
        </p:txBody>
      </p:sp>
      <p:sp>
        <p:nvSpPr>
          <p:cNvPr id="2457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2515</TotalTime>
  <Words>314</Words>
  <Application>Microsoft Office PowerPoint</Application>
  <PresentationFormat>On-screen Show (4:3)</PresentationFormat>
  <Paragraphs>58</Paragraphs>
  <Slides>19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Civic</vt:lpstr>
      <vt:lpstr>Equation</vt:lpstr>
      <vt:lpstr>Adobe Acrobat Document</vt:lpstr>
      <vt:lpstr>         Write each as a piecewise function:</vt:lpstr>
      <vt:lpstr>Slide 2</vt:lpstr>
      <vt:lpstr>Practice: Rationalize the denominator appropriately for each of the following:</vt:lpstr>
      <vt:lpstr> Limits (Section 2.2)</vt:lpstr>
      <vt:lpstr>Right-sided Limit must equal  Left-sided Limit for the Limit to exist.  </vt:lpstr>
      <vt:lpstr>4 reasons a limit Does Not Exist:</vt:lpstr>
      <vt:lpstr>Theorems</vt:lpstr>
      <vt:lpstr>Theorems</vt:lpstr>
      <vt:lpstr>  JUST LISTEN   N O   N O T E S Let a be a real #, and suppose that the limits of f(x) &amp; g(x) exist and are equal to L1 and L2, respectively.  Then:</vt:lpstr>
      <vt:lpstr>Let a be a real #, and suppose that the limits of f(x) &amp; g(x) exist and are equal to L1 and L2, respectively.  Then:</vt:lpstr>
      <vt:lpstr>Find </vt:lpstr>
      <vt:lpstr>The limit of a polynomial as x approaches a is the same as the value of  the polynomial at x=a.</vt:lpstr>
      <vt:lpstr>Indeterminate Forms:  0/0 </vt:lpstr>
      <vt:lpstr>Slide 14</vt:lpstr>
      <vt:lpstr>Indeterminate Forms:  0/0 </vt:lpstr>
      <vt:lpstr>Indeterminate Forms:  0/0 </vt:lpstr>
      <vt:lpstr>Indeterminate Limits Involving Radicals</vt:lpstr>
      <vt:lpstr>Another Indeterminate Limit Involving Radicals</vt:lpstr>
      <vt:lpstr>Homework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Logarithms</dc:title>
  <dc:creator>Limor</dc:creator>
  <cp:lastModifiedBy>user</cp:lastModifiedBy>
  <cp:revision>158</cp:revision>
  <dcterms:created xsi:type="dcterms:W3CDTF">2009-04-01T12:26:36Z</dcterms:created>
  <dcterms:modified xsi:type="dcterms:W3CDTF">2015-08-31T22:09:50Z</dcterms:modified>
</cp:coreProperties>
</file>